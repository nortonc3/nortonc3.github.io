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02"/>
    <p:restoredTop sz="94696"/>
  </p:normalViewPr>
  <p:slideViewPr>
    <p:cSldViewPr snapToGrid="0">
      <p:cViewPr>
        <p:scale>
          <a:sx n="66" d="100"/>
          <a:sy n="66" d="100"/>
        </p:scale>
        <p:origin x="14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80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91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948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9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020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72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89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11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17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8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064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691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004CD0-F38F-24BD-61FE-6DAB2158A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pPr algn="ctr"/>
            <a:r>
              <a:rPr lang="en-US" sz="5800" dirty="0"/>
              <a:t>Technology in Medicine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218D5-3B2E-26E0-7E2F-BAB76F1F2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pPr algn="ctr"/>
            <a:r>
              <a:rPr lang="en-US" dirty="0"/>
              <a:t>Christian Norton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BF14BCA-B92D-3ED8-342E-19B02618E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00" y="1252220"/>
            <a:ext cx="6864865" cy="457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AF6D0E-ADD6-AA05-D441-8F796DB0F05D}"/>
              </a:ext>
            </a:extLst>
          </p:cNvPr>
          <p:cNvSpPr txBox="1"/>
          <p:nvPr/>
        </p:nvSpPr>
        <p:spPr>
          <a:xfrm>
            <a:off x="345800" y="5853980"/>
            <a:ext cx="6686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Vantage MedTech</a:t>
            </a:r>
          </a:p>
        </p:txBody>
      </p:sp>
    </p:spTree>
    <p:extLst>
      <p:ext uri="{BB962C8B-B14F-4D97-AF65-F5344CB8AC3E}">
        <p14:creationId xmlns:p14="http://schemas.microsoft.com/office/powerpoint/2010/main" val="2026795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C7ED5-8889-7180-13C9-358718E1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Medical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F41E9-76E0-259A-08F1-195ECAC41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7622177" cy="3566160"/>
          </a:xfrm>
        </p:spPr>
        <p:txBody>
          <a:bodyPr/>
          <a:lstStyle/>
          <a:p>
            <a:r>
              <a:rPr lang="en-US" dirty="0"/>
              <a:t>One of the first advancements in medical technology was the magnifying glass in 1250</a:t>
            </a:r>
          </a:p>
          <a:p>
            <a:r>
              <a:rPr lang="en-US" dirty="0"/>
              <a:t>Other early advancements include…</a:t>
            </a:r>
          </a:p>
          <a:p>
            <a:pPr lvl="1"/>
            <a:r>
              <a:rPr lang="en-US" dirty="0"/>
              <a:t>Tools like eyeglasses and the stethoscope</a:t>
            </a:r>
          </a:p>
          <a:p>
            <a:pPr lvl="1"/>
            <a:r>
              <a:rPr lang="en-US" dirty="0"/>
              <a:t>Scans such as the x-ray</a:t>
            </a:r>
          </a:p>
          <a:p>
            <a:pPr lvl="1"/>
            <a:r>
              <a:rPr lang="en-US" dirty="0"/>
              <a:t>Other helpful things like anesthesia</a:t>
            </a:r>
          </a:p>
          <a:p>
            <a:r>
              <a:rPr lang="en-US" dirty="0"/>
              <a:t>Without these devices, an already complex field would be even more difficult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B0586C-842B-907B-1FAA-D557F867E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100" y="1708032"/>
            <a:ext cx="3091908" cy="34419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94F8A8-460E-8241-E68A-E422FE478E89}"/>
              </a:ext>
            </a:extLst>
          </p:cNvPr>
          <p:cNvSpPr txBox="1"/>
          <p:nvPr/>
        </p:nvSpPr>
        <p:spPr>
          <a:xfrm>
            <a:off x="9010601" y="5178621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Amazon</a:t>
            </a:r>
          </a:p>
        </p:txBody>
      </p:sp>
    </p:spTree>
    <p:extLst>
      <p:ext uri="{BB962C8B-B14F-4D97-AF65-F5344CB8AC3E}">
        <p14:creationId xmlns:p14="http://schemas.microsoft.com/office/powerpoint/2010/main" val="1390129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FDF60-09AA-7338-46EC-9DFB05D29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11887"/>
            <a:ext cx="10890929" cy="1097280"/>
          </a:xfrm>
        </p:spPr>
        <p:txBody>
          <a:bodyPr/>
          <a:lstStyle/>
          <a:p>
            <a:r>
              <a:rPr lang="en-US" dirty="0"/>
              <a:t>Radiology and Scans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7A6E4-A7B0-CF29-A3CD-D814A5AF9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685" y="1846730"/>
            <a:ext cx="8068234" cy="5011270"/>
          </a:xfrm>
        </p:spPr>
        <p:txBody>
          <a:bodyPr>
            <a:normAutofit/>
          </a:bodyPr>
          <a:lstStyle/>
          <a:p>
            <a:r>
              <a:rPr lang="en-US" sz="1700" dirty="0"/>
              <a:t>The x-ray was created in the late 1800s</a:t>
            </a:r>
          </a:p>
          <a:p>
            <a:pPr lvl="1"/>
            <a:r>
              <a:rPr lang="en-US" sz="1700" dirty="0"/>
              <a:t>Energy beams passed through body </a:t>
            </a:r>
            <a:r>
              <a:rPr lang="en-US" sz="1700" dirty="0">
                <a:sym typeface="Wingdings" pitchFamily="2" charset="2"/>
              </a:rPr>
              <a:t> some bones and body parts block them from passing through</a:t>
            </a:r>
          </a:p>
          <a:p>
            <a:pPr lvl="1"/>
            <a:r>
              <a:rPr lang="en-US" sz="1700" dirty="0">
                <a:sym typeface="Wingdings" pitchFamily="2" charset="2"/>
              </a:rPr>
              <a:t>Silhouette appears on detectors and can be viewed by a radiologist</a:t>
            </a:r>
          </a:p>
          <a:p>
            <a:r>
              <a:rPr lang="en-US" sz="1700" dirty="0">
                <a:sym typeface="Wingdings" pitchFamily="2" charset="2"/>
              </a:rPr>
              <a:t>The computed tomography (CT) scan was invented in the late 1970s</a:t>
            </a:r>
          </a:p>
          <a:p>
            <a:pPr lvl="1"/>
            <a:r>
              <a:rPr lang="en-US" sz="1700" dirty="0">
                <a:sym typeface="Wingdings" pitchFamily="2" charset="2"/>
              </a:rPr>
              <a:t>Uses x-ray beams but rotates around the body to create a 3D picture</a:t>
            </a:r>
          </a:p>
          <a:p>
            <a:r>
              <a:rPr lang="en-US" sz="1700" dirty="0">
                <a:sym typeface="Wingdings" pitchFamily="2" charset="2"/>
              </a:rPr>
              <a:t>Magnetic resonance imaging (MRI) scans also invented in late 1970s</a:t>
            </a:r>
          </a:p>
          <a:p>
            <a:pPr lvl="1"/>
            <a:r>
              <a:rPr lang="en-US" sz="1700" dirty="0">
                <a:sym typeface="Wingdings" pitchFamily="2" charset="2"/>
              </a:rPr>
              <a:t>Use strong magnets and radio waves, which interact with atoms in the water molecules in body tissues</a:t>
            </a:r>
          </a:p>
          <a:p>
            <a:pPr lvl="1"/>
            <a:r>
              <a:rPr lang="en-US" sz="1700" dirty="0">
                <a:sym typeface="Wingdings" pitchFamily="2" charset="2"/>
              </a:rPr>
              <a:t>When radio waves are turned off, the atoms release energy which shows up on detector</a:t>
            </a:r>
          </a:p>
          <a:p>
            <a:r>
              <a:rPr lang="en-US" sz="1700" dirty="0">
                <a:sym typeface="Wingdings" pitchFamily="2" charset="2"/>
              </a:rPr>
              <a:t>Other scans include positron emission tomography, ultrasound, and nuclear imaging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02A881-1A35-6562-AE86-C6860AC6B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92" y="1891620"/>
            <a:ext cx="2946400" cy="19570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6F547D-BFC5-F3CA-7753-D4D3908359AB}"/>
              </a:ext>
            </a:extLst>
          </p:cNvPr>
          <p:cNvSpPr txBox="1"/>
          <p:nvPr/>
        </p:nvSpPr>
        <p:spPr>
          <a:xfrm>
            <a:off x="640078" y="3885350"/>
            <a:ext cx="1786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MedlinePlus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EDB69F-4F94-6485-EC32-12DC2DCAD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8" y="4347015"/>
            <a:ext cx="2967313" cy="19709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404B43-D22F-91DB-F87B-23B83C312493}"/>
              </a:ext>
            </a:extLst>
          </p:cNvPr>
          <p:cNvSpPr txBox="1"/>
          <p:nvPr/>
        </p:nvSpPr>
        <p:spPr>
          <a:xfrm>
            <a:off x="640078" y="6318004"/>
            <a:ext cx="23984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Practice Plus Group</a:t>
            </a:r>
          </a:p>
        </p:txBody>
      </p:sp>
    </p:spTree>
    <p:extLst>
      <p:ext uri="{BB962C8B-B14F-4D97-AF65-F5344CB8AC3E}">
        <p14:creationId xmlns:p14="http://schemas.microsoft.com/office/powerpoint/2010/main" val="125104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1C7D-FB8D-CD2A-3F8A-52C398769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Wearable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2A2A1-66A6-1953-4192-6D6565B46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Diagnostic devices include wearables like smart watches and fitness bracelets</a:t>
            </a:r>
          </a:p>
          <a:p>
            <a:r>
              <a:rPr lang="en-US" dirty="0"/>
              <a:t>Not new, but applications are continuing to develop</a:t>
            </a:r>
          </a:p>
          <a:p>
            <a:r>
              <a:rPr lang="en-US" dirty="0"/>
              <a:t>Used to record simple things like how many steps were taken in a day</a:t>
            </a:r>
          </a:p>
          <a:p>
            <a:r>
              <a:rPr lang="en-US" dirty="0"/>
              <a:t>Now collect data such as blood sugar levels, blood pressure, and heart rate</a:t>
            </a:r>
          </a:p>
          <a:p>
            <a:pPr lvl="1"/>
            <a:r>
              <a:rPr lang="en-US" dirty="0"/>
              <a:t>This can be shared with healthcare providers to construct personalized treatment plans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EF1B-DA9B-3DC8-6028-5A90E41A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245" y="435585"/>
            <a:ext cx="4441536" cy="1542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804616-E4AA-D706-7A6F-0B37C7FF589F}"/>
              </a:ext>
            </a:extLst>
          </p:cNvPr>
          <p:cNvSpPr txBox="1"/>
          <p:nvPr/>
        </p:nvSpPr>
        <p:spPr>
          <a:xfrm>
            <a:off x="5866245" y="1978435"/>
            <a:ext cx="24753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HealthTech Magazine</a:t>
            </a:r>
          </a:p>
        </p:txBody>
      </p:sp>
    </p:spTree>
    <p:extLst>
      <p:ext uri="{BB962C8B-B14F-4D97-AF65-F5344CB8AC3E}">
        <p14:creationId xmlns:p14="http://schemas.microsoft.com/office/powerpoint/2010/main" val="2226891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865F7-EC27-A8E4-C61E-316C9C5A8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Electronic Health Records (EHRs)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A62C1-DCE6-B186-DD4E-8BF7578DE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5926975" cy="35661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Virtual storage of patient information has changed the way doctors interact with patients</a:t>
            </a:r>
          </a:p>
          <a:p>
            <a:r>
              <a:rPr lang="en-US" dirty="0"/>
              <a:t>EHRs are computer-based records that let doctors easily access history and information</a:t>
            </a:r>
          </a:p>
          <a:p>
            <a:r>
              <a:rPr lang="en-US" dirty="0"/>
              <a:t>Since the 1990s, common practice is to electronically record patient files</a:t>
            </a:r>
          </a:p>
          <a:p>
            <a:pPr lvl="1"/>
            <a:r>
              <a:rPr lang="en-US" dirty="0"/>
              <a:t>Now a central collection of everyone’s health data</a:t>
            </a:r>
          </a:p>
          <a:p>
            <a:r>
              <a:rPr lang="en-US" dirty="0"/>
              <a:t>Reduced cost </a:t>
            </a:r>
            <a:r>
              <a:rPr lang="en-US" dirty="0">
                <a:sym typeface="Wingdings" pitchFamily="2" charset="2"/>
              </a:rPr>
              <a:t> no printing, filing, paper storage</a:t>
            </a:r>
          </a:p>
          <a:p>
            <a:r>
              <a:rPr lang="en-US" dirty="0">
                <a:sym typeface="Wingdings" pitchFamily="2" charset="2"/>
              </a:rPr>
              <a:t>Reduced likelihood of errors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D8F456-3B47-03C8-94CA-808AB53CA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516" y="2882854"/>
            <a:ext cx="4358492" cy="23957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D0A92A-55A3-297A-80D7-0B5CF5A324CD}"/>
              </a:ext>
            </a:extLst>
          </p:cNvPr>
          <p:cNvSpPr txBox="1"/>
          <p:nvPr/>
        </p:nvSpPr>
        <p:spPr>
          <a:xfrm>
            <a:off x="7172516" y="5323223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AAMC</a:t>
            </a:r>
          </a:p>
        </p:txBody>
      </p:sp>
    </p:spTree>
    <p:extLst>
      <p:ext uri="{BB962C8B-B14F-4D97-AF65-F5344CB8AC3E}">
        <p14:creationId xmlns:p14="http://schemas.microsoft.com/office/powerpoint/2010/main" val="3266652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4180-F9AB-090E-84EC-1817F8BCE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Blockchain and Cloud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5859-17F9-59A6-6ED9-D5BC754AB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Blockchain allows participants to securely update and share data</a:t>
            </a:r>
          </a:p>
          <a:p>
            <a:pPr lvl="1"/>
            <a:r>
              <a:rPr lang="en-US" dirty="0"/>
              <a:t>Turns data transactions into an anonymous encoded block and adds it to a shared ledger accessible to those involved</a:t>
            </a:r>
          </a:p>
          <a:p>
            <a:pPr lvl="1"/>
            <a:r>
              <a:rPr lang="en-US" dirty="0"/>
              <a:t>Users can access information in real time</a:t>
            </a:r>
          </a:p>
          <a:p>
            <a:pPr lvl="1"/>
            <a:r>
              <a:rPr lang="en-US" dirty="0"/>
              <a:t>Secure </a:t>
            </a:r>
            <a:r>
              <a:rPr lang="en-US" dirty="0">
                <a:sym typeface="Wingdings" pitchFamily="2" charset="2"/>
              </a:rPr>
              <a:t> changes must first be approved by users with permission</a:t>
            </a:r>
          </a:p>
          <a:p>
            <a:r>
              <a:rPr lang="en-US" dirty="0"/>
              <a:t>Cloud technology is the foundation for the development of healthcare technology</a:t>
            </a:r>
          </a:p>
          <a:p>
            <a:pPr lvl="1"/>
            <a:r>
              <a:rPr lang="en-US" dirty="0"/>
              <a:t>Real-time access to information</a:t>
            </a:r>
          </a:p>
          <a:p>
            <a:pPr lvl="1"/>
            <a:r>
              <a:rPr lang="en-US" dirty="0"/>
              <a:t>Healthcare organizations can outsource system maintenance and management</a:t>
            </a:r>
          </a:p>
          <a:p>
            <a:r>
              <a:rPr lang="en-US" dirty="0"/>
              <a:t>These have improved the way information is managed, making it easier and more efficient to access medical data</a:t>
            </a:r>
          </a:p>
        </p:txBody>
      </p:sp>
    </p:spTree>
    <p:extLst>
      <p:ext uri="{BB962C8B-B14F-4D97-AF65-F5344CB8AC3E}">
        <p14:creationId xmlns:p14="http://schemas.microsoft.com/office/powerpoint/2010/main" val="3317337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80348-2469-8E91-F15E-110FE4BAE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B334C-D7E2-550D-43AD-71FBEC5E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85999"/>
            <a:ext cx="10911841" cy="44522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Began being used about 40 years ago, when a robot was used with CT navigation to insert a probe into the brain to get a biopsy specimen</a:t>
            </a:r>
          </a:p>
          <a:p>
            <a:r>
              <a:rPr lang="en-US" dirty="0"/>
              <a:t>Later robots followed, including those used to perform specific procedures</a:t>
            </a:r>
          </a:p>
          <a:p>
            <a:r>
              <a:rPr lang="en-US" dirty="0"/>
              <a:t>Models were designed to strictly operate under surgeons</a:t>
            </a:r>
          </a:p>
          <a:p>
            <a:r>
              <a:rPr lang="en-US" dirty="0"/>
              <a:t>Use computers and software to manipulate surgical instruments with precision</a:t>
            </a:r>
          </a:p>
          <a:p>
            <a:r>
              <a:rPr lang="en-US" dirty="0"/>
              <a:t>Smaller incisions, less blood loss, and quick recovery times</a:t>
            </a:r>
          </a:p>
          <a:p>
            <a:r>
              <a:rPr lang="en-US" dirty="0"/>
              <a:t>Modus V is an automated arm and microscope used in neurosurgery</a:t>
            </a:r>
          </a:p>
          <a:p>
            <a:pPr lvl="1"/>
            <a:r>
              <a:rPr lang="en-US" dirty="0"/>
              <a:t>Arm tracks instruments being used, automatically moves to the correct area, and projects a magnified image on a screen</a:t>
            </a:r>
          </a:p>
          <a:p>
            <a:r>
              <a:rPr lang="en-US" dirty="0"/>
              <a:t>Other robots double as protheses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139FE9-EA81-BAE7-090F-0799024B2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508" y="256862"/>
            <a:ext cx="2952177" cy="15719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4B558B-D045-F852-5053-38CF768AE23B}"/>
              </a:ext>
            </a:extLst>
          </p:cNvPr>
          <p:cNvSpPr txBox="1"/>
          <p:nvPr/>
        </p:nvSpPr>
        <p:spPr>
          <a:xfrm>
            <a:off x="3715984" y="1828800"/>
            <a:ext cx="23695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Express Healthcare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D64153-0A48-27D4-36F0-72B8E47A1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532" y="156692"/>
            <a:ext cx="2004582" cy="15719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F2FB50-1D21-D4B6-BBC1-18664F24A587}"/>
              </a:ext>
            </a:extLst>
          </p:cNvPr>
          <p:cNvSpPr txBox="1"/>
          <p:nvPr/>
        </p:nvSpPr>
        <p:spPr>
          <a:xfrm>
            <a:off x="7853656" y="1728630"/>
            <a:ext cx="19383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 err="1"/>
              <a:t>Tekim</a:t>
            </a:r>
            <a:r>
              <a:rPr lang="en-US" sz="1400" dirty="0"/>
              <a:t> Medical</a:t>
            </a:r>
          </a:p>
        </p:txBody>
      </p:sp>
    </p:spTree>
    <p:extLst>
      <p:ext uri="{BB962C8B-B14F-4D97-AF65-F5344CB8AC3E}">
        <p14:creationId xmlns:p14="http://schemas.microsoft.com/office/powerpoint/2010/main" val="3305205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460D5-3D9E-8683-C629-659AD2752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Telemedicine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29359-4E8C-DD43-C8DE-732C18BD3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5268" y="2633472"/>
            <a:ext cx="7075739" cy="3566160"/>
          </a:xfrm>
        </p:spPr>
        <p:txBody>
          <a:bodyPr/>
          <a:lstStyle/>
          <a:p>
            <a:r>
              <a:rPr lang="en-US" dirty="0"/>
              <a:t>Telemedicine is using electronic information and technology to support long-distance healthcare</a:t>
            </a:r>
          </a:p>
          <a:p>
            <a:r>
              <a:rPr lang="en-US" dirty="0"/>
              <a:t>Patients can talk to doctors, discuss results, take training courses, schedule appointments, etc.</a:t>
            </a:r>
          </a:p>
          <a:p>
            <a:r>
              <a:rPr lang="en-US" dirty="0"/>
              <a:t>Improves efficiency, engagement between clinician and patient, and treatment decisions</a:t>
            </a:r>
          </a:p>
          <a:p>
            <a:r>
              <a:rPr lang="en-US" dirty="0"/>
              <a:t>Reduces cost for patients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CD3F73-998E-456A-47A4-4A8A374FB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89" y="2633472"/>
            <a:ext cx="3879039" cy="28529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AB5823-911F-7658-B137-881582D0A893}"/>
              </a:ext>
            </a:extLst>
          </p:cNvPr>
          <p:cNvSpPr txBox="1"/>
          <p:nvPr/>
        </p:nvSpPr>
        <p:spPr>
          <a:xfrm>
            <a:off x="1048318" y="5332510"/>
            <a:ext cx="22733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News-</a:t>
            </a:r>
            <a:r>
              <a:rPr lang="en-US" sz="1400" dirty="0" err="1"/>
              <a:t>Medical.Net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17153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09DDC-4A63-319D-1C6C-2991D6D67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6244E-1D89-B888-F7FB-334FBDAF4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76273"/>
            <a:ext cx="8017538" cy="420234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Remote monitoring is a branch of telemedicine</a:t>
            </a:r>
          </a:p>
          <a:p>
            <a:r>
              <a:rPr lang="en-US" dirty="0"/>
              <a:t>As a result of this, patients don’t need to go to a hospital or clinic to provide their doctor with information</a:t>
            </a:r>
          </a:p>
          <a:p>
            <a:r>
              <a:rPr lang="en-US" dirty="0"/>
              <a:t>Medical devices can be attached to patients or held, allowing healthcare providers to track heart rate, blood pressure, glucose level, oxygen saturation, etc.</a:t>
            </a:r>
          </a:p>
          <a:p>
            <a:r>
              <a:rPr lang="en-US" dirty="0"/>
              <a:t>Saves times, keeps healthy patients away from those that are contagious, and allows for a simple flow of information to make treatment decisions</a:t>
            </a:r>
          </a:p>
          <a:p>
            <a:r>
              <a:rPr lang="en-US" dirty="0"/>
              <a:t>Smartphone apps, smart watches, or more specialized devices can assist with remote monitoring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6FDB0B-DBAD-E7CB-750F-EDC464159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584" y="2633472"/>
            <a:ext cx="2824888" cy="24925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808088-2703-1369-60E4-683AA2223A1A}"/>
              </a:ext>
            </a:extLst>
          </p:cNvPr>
          <p:cNvSpPr txBox="1"/>
          <p:nvPr/>
        </p:nvSpPr>
        <p:spPr>
          <a:xfrm>
            <a:off x="8918964" y="5136722"/>
            <a:ext cx="21098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Nature Medicine</a:t>
            </a:r>
          </a:p>
        </p:txBody>
      </p:sp>
    </p:spTree>
    <p:extLst>
      <p:ext uri="{BB962C8B-B14F-4D97-AF65-F5344CB8AC3E}">
        <p14:creationId xmlns:p14="http://schemas.microsoft.com/office/powerpoint/2010/main" val="2811484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83906-F6A1-4719-E35F-87009309E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Medical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0306B-AC3D-49B7-7A32-2615D4392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37363"/>
            <a:ext cx="10890928" cy="4416356"/>
          </a:xfrm>
        </p:spPr>
        <p:txBody>
          <a:bodyPr>
            <a:normAutofit/>
          </a:bodyPr>
          <a:lstStyle/>
          <a:p>
            <a:r>
              <a:rPr lang="en-US" dirty="0"/>
              <a:t>Improved efficiency</a:t>
            </a:r>
          </a:p>
          <a:p>
            <a:pPr lvl="1"/>
            <a:r>
              <a:rPr lang="en-US" dirty="0"/>
              <a:t>Processes are typically more efficient when using medical technology</a:t>
            </a:r>
          </a:p>
          <a:p>
            <a:pPr lvl="1"/>
            <a:r>
              <a:rPr lang="en-US" dirty="0"/>
              <a:t>EHRs can be accessed by everyone that needs to see them</a:t>
            </a:r>
          </a:p>
          <a:p>
            <a:r>
              <a:rPr lang="en-US" dirty="0"/>
              <a:t>Better communication</a:t>
            </a:r>
          </a:p>
          <a:p>
            <a:pPr lvl="1"/>
            <a:r>
              <a:rPr lang="en-US" dirty="0"/>
              <a:t>Online portals allow patients to access their test results and prescriptions whenever they choose</a:t>
            </a:r>
          </a:p>
          <a:p>
            <a:pPr lvl="1"/>
            <a:r>
              <a:rPr lang="en-US" dirty="0"/>
              <a:t>Another way for people to contact their medical team with questions or other concerns</a:t>
            </a:r>
          </a:p>
          <a:p>
            <a:r>
              <a:rPr lang="en-US" dirty="0"/>
              <a:t>Advanced diagnostics</a:t>
            </a:r>
          </a:p>
          <a:p>
            <a:pPr lvl="1"/>
            <a:r>
              <a:rPr lang="en-US" dirty="0"/>
              <a:t>Advanced systems help doctors and researchers determine the disease, infection, virus, or other condition affecting a patient</a:t>
            </a:r>
          </a:p>
          <a:p>
            <a:pPr lvl="1"/>
            <a:r>
              <a:rPr lang="en-US" dirty="0"/>
              <a:t>AI can model large amounts of data quicker than humans can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8F28A-144D-EBB5-92C4-38D8F1246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427" y="204281"/>
            <a:ext cx="3577273" cy="1869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67C602-33D6-5AE8-5ADA-4E3EEB20CAB6}"/>
              </a:ext>
            </a:extLst>
          </p:cNvPr>
          <p:cNvSpPr txBox="1"/>
          <p:nvPr/>
        </p:nvSpPr>
        <p:spPr>
          <a:xfrm>
            <a:off x="8286427" y="2073695"/>
            <a:ext cx="2113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AMN Healthcare</a:t>
            </a:r>
          </a:p>
        </p:txBody>
      </p:sp>
    </p:spTree>
    <p:extLst>
      <p:ext uri="{BB962C8B-B14F-4D97-AF65-F5344CB8AC3E}">
        <p14:creationId xmlns:p14="http://schemas.microsoft.com/office/powerpoint/2010/main" val="976987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0DD71-AA19-969D-ACC0-CE64E5BD6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Medical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DD092-BAA9-BC73-BFBA-808E8154C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Personalized treatment</a:t>
            </a:r>
          </a:p>
          <a:p>
            <a:pPr lvl="1"/>
            <a:r>
              <a:rPr lang="en-US" dirty="0"/>
              <a:t>Clinicians customize treatment to each patient’s unique makeup, history, and needs</a:t>
            </a:r>
          </a:p>
          <a:p>
            <a:r>
              <a:rPr lang="en-US" dirty="0"/>
              <a:t>Patient empowerment</a:t>
            </a:r>
          </a:p>
          <a:p>
            <a:pPr lvl="1"/>
            <a:r>
              <a:rPr lang="en-US" dirty="0"/>
              <a:t>Patients are more informed, and can take steps to improve their diets and lifestyles</a:t>
            </a:r>
          </a:p>
          <a:p>
            <a:r>
              <a:rPr lang="en-US" dirty="0"/>
              <a:t>Reduced likelihood of medical errors</a:t>
            </a:r>
          </a:p>
          <a:p>
            <a:r>
              <a:rPr lang="en-US" dirty="0"/>
              <a:t>Cost savings</a:t>
            </a:r>
          </a:p>
          <a:p>
            <a:pPr lvl="1"/>
            <a:r>
              <a:rPr lang="en-US" dirty="0"/>
              <a:t>Telemedicine lets patients consult with doctors from home</a:t>
            </a:r>
          </a:p>
          <a:p>
            <a:pPr lvl="1"/>
            <a:r>
              <a:rPr lang="en-US" dirty="0"/>
              <a:t>EHRs avoid administrative costs</a:t>
            </a:r>
          </a:p>
        </p:txBody>
      </p:sp>
    </p:spTree>
    <p:extLst>
      <p:ext uri="{BB962C8B-B14F-4D97-AF65-F5344CB8AC3E}">
        <p14:creationId xmlns:p14="http://schemas.microsoft.com/office/powerpoint/2010/main" val="1138696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6CDF1-1B90-866A-F79A-7E244E190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to Medical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45563-AB87-ECCA-6DE5-E8AFFC7FE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7317146" cy="3566160"/>
          </a:xfrm>
        </p:spPr>
        <p:txBody>
          <a:bodyPr/>
          <a:lstStyle/>
          <a:p>
            <a:r>
              <a:rPr lang="en-US" dirty="0"/>
              <a:t>Some low-income countries still lack access to these tools</a:t>
            </a:r>
          </a:p>
          <a:p>
            <a:r>
              <a:rPr lang="en-US" dirty="0"/>
              <a:t>Donations are difficult because of a few barriers</a:t>
            </a:r>
          </a:p>
          <a:p>
            <a:pPr lvl="1"/>
            <a:r>
              <a:rPr lang="en-US" dirty="0"/>
              <a:t>Mismatch between equipment that’s needed and equipment that’s received</a:t>
            </a:r>
          </a:p>
          <a:p>
            <a:pPr lvl="1"/>
            <a:r>
              <a:rPr lang="en-US" dirty="0"/>
              <a:t>Difficult to sustain functions and costs of devices in the long-term</a:t>
            </a:r>
          </a:p>
          <a:p>
            <a:pPr lvl="1"/>
            <a:r>
              <a:rPr lang="en-US" dirty="0"/>
              <a:t>Some equipment is unsustainable or unused</a:t>
            </a:r>
          </a:p>
          <a:p>
            <a:r>
              <a:rPr lang="en-US" dirty="0"/>
              <a:t>Devices need to be delivered to many countries, increasing their cost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4FE662-9AC7-68FD-856F-8EA7E15BC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998" y="2633472"/>
            <a:ext cx="3211565" cy="21332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D4C325-EC3F-3362-8B17-604220134742}"/>
              </a:ext>
            </a:extLst>
          </p:cNvPr>
          <p:cNvSpPr txBox="1"/>
          <p:nvPr/>
        </p:nvSpPr>
        <p:spPr>
          <a:xfrm>
            <a:off x="8495998" y="4766702"/>
            <a:ext cx="2119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MedTech Europe</a:t>
            </a:r>
          </a:p>
        </p:txBody>
      </p:sp>
    </p:spTree>
    <p:extLst>
      <p:ext uri="{BB962C8B-B14F-4D97-AF65-F5344CB8AC3E}">
        <p14:creationId xmlns:p14="http://schemas.microsoft.com/office/powerpoint/2010/main" val="3475123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6C440-810B-CEBA-41E1-5EF3BA215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to Medical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82BFF-9A1E-0914-695E-4670F4ED1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95729"/>
            <a:ext cx="10890928" cy="4396902"/>
          </a:xfrm>
        </p:spPr>
        <p:txBody>
          <a:bodyPr>
            <a:normAutofit/>
          </a:bodyPr>
          <a:lstStyle/>
          <a:p>
            <a:r>
              <a:rPr lang="en-US" dirty="0"/>
              <a:t>If properly delivered, staff must be appropriately trained to keep the devices operating</a:t>
            </a:r>
          </a:p>
          <a:p>
            <a:r>
              <a:rPr lang="en-US" dirty="0"/>
              <a:t>Weather conditions impact these devices, often causing them to fail</a:t>
            </a:r>
          </a:p>
          <a:p>
            <a:r>
              <a:rPr lang="en-US" dirty="0"/>
              <a:t>Developing countries don’t have the necessary regulations set in place to implement and use advanced equipment</a:t>
            </a:r>
          </a:p>
          <a:p>
            <a:r>
              <a:rPr lang="en-US" dirty="0"/>
              <a:t>Donating equipment isn’t the solution</a:t>
            </a:r>
          </a:p>
          <a:p>
            <a:pPr lvl="1"/>
            <a:r>
              <a:rPr lang="en-US" dirty="0"/>
              <a:t>Proper planning and maintenance are the keys to success</a:t>
            </a:r>
          </a:p>
          <a:p>
            <a:r>
              <a:rPr lang="en-US" dirty="0"/>
              <a:t>Hopefully one day everyone will have access to the same technology, regardless of where in the world you are</a:t>
            </a:r>
          </a:p>
          <a:p>
            <a:r>
              <a:rPr lang="en-US" dirty="0"/>
              <a:t>Continued development of medical technology will play a critical role in shaping a more effective and reliable healthcare system in the future</a:t>
            </a:r>
          </a:p>
        </p:txBody>
      </p:sp>
    </p:spTree>
    <p:extLst>
      <p:ext uri="{BB962C8B-B14F-4D97-AF65-F5344CB8AC3E}">
        <p14:creationId xmlns:p14="http://schemas.microsoft.com/office/powerpoint/2010/main" val="1982349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AA1FA-C0C1-EFB1-C072-2F75463BF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40081"/>
            <a:ext cx="10890929" cy="1097280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E7269-4FC4-F493-47FE-507217C58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926077"/>
            <a:ext cx="10890928" cy="4630365"/>
          </a:xfrm>
        </p:spPr>
        <p:txBody>
          <a:bodyPr>
            <a:normAutofit fontScale="85000" lnSpcReduction="10000"/>
          </a:bodyPr>
          <a:lstStyle/>
          <a:p>
            <a:r>
              <a:rPr lang="en-US" i="1" dirty="0"/>
              <a:t>Access to medical devices in low-income countries: Addressing sustainability challenges in medical device donations</a:t>
            </a:r>
            <a:r>
              <a:rPr lang="en-US" dirty="0"/>
              <a:t>. NAM. (2024, November 8). https://</a:t>
            </a:r>
            <a:r>
              <a:rPr lang="en-US" dirty="0" err="1"/>
              <a:t>nam.edu</a:t>
            </a:r>
            <a:r>
              <a:rPr lang="en-US" dirty="0"/>
              <a:t>/perspectives/access-to-medical-devices-in-low-income-countries-addressing-sustainability-challenges-in-medical-device-donations/ </a:t>
            </a:r>
          </a:p>
          <a:p>
            <a:r>
              <a:rPr lang="en-US" dirty="0"/>
              <a:t>Bakalar, N., Barrow, K., Huang, J., &amp; Parker, D. (2012, October 10). </a:t>
            </a:r>
            <a:r>
              <a:rPr lang="en-US" i="1" dirty="0"/>
              <a:t>Milestones in Medical Technology</a:t>
            </a:r>
            <a:r>
              <a:rPr lang="en-US" dirty="0"/>
              <a:t>. The New York Times. https://</a:t>
            </a:r>
            <a:r>
              <a:rPr lang="en-US" dirty="0" err="1"/>
              <a:t>archive.nytimes.com</a:t>
            </a:r>
            <a:r>
              <a:rPr lang="en-US" dirty="0"/>
              <a:t>/</a:t>
            </a:r>
            <a:r>
              <a:rPr lang="en-US" dirty="0" err="1"/>
              <a:t>www.nytimes.com</a:t>
            </a:r>
            <a:r>
              <a:rPr lang="en-US" dirty="0"/>
              <a:t>/interactive/2012/10/05/health/digital-</a:t>
            </a:r>
            <a:r>
              <a:rPr lang="en-US" dirty="0" err="1"/>
              <a:t>doctor.html</a:t>
            </a:r>
            <a:r>
              <a:rPr lang="en-US" dirty="0"/>
              <a:t>#/#time15_375 </a:t>
            </a:r>
          </a:p>
          <a:p>
            <a:r>
              <a:rPr lang="en-US" dirty="0"/>
              <a:t>Rampton, V., Böhmer, M., &amp; Winkler, A. (2022, June). </a:t>
            </a:r>
            <a:r>
              <a:rPr lang="en-US" i="1" dirty="0"/>
              <a:t>Medical Technologies Past and present: How history helps to understand the digital era</a:t>
            </a:r>
            <a:r>
              <a:rPr lang="en-US" dirty="0"/>
              <a:t>. The Journal of medical humanities. https://</a:t>
            </a:r>
            <a:r>
              <a:rPr lang="en-US" dirty="0" err="1"/>
              <a:t>pmc.ncbi.nlm.nih.gov</a:t>
            </a:r>
            <a:r>
              <a:rPr lang="en-US" dirty="0"/>
              <a:t>/articles/PMC8260574/ </a:t>
            </a:r>
          </a:p>
          <a:p>
            <a:r>
              <a:rPr lang="en-US" i="1" dirty="0"/>
              <a:t>The present and future of Healthcare Technology</a:t>
            </a:r>
            <a:r>
              <a:rPr lang="en-US" dirty="0"/>
              <a:t>. What Is Healthcare Technology? (n.d.). https://</a:t>
            </a:r>
            <a:r>
              <a:rPr lang="en-US" dirty="0" err="1"/>
              <a:t>www.oracle.com</a:t>
            </a:r>
            <a:r>
              <a:rPr lang="en-US" dirty="0"/>
              <a:t>/health/healthcare-technology/ </a:t>
            </a:r>
          </a:p>
          <a:p>
            <a:r>
              <a:rPr lang="en-US" dirty="0"/>
              <a:t>U.S. Department of Health and Human Services. (2024, June 17). </a:t>
            </a:r>
            <a:r>
              <a:rPr lang="en-US" i="1" dirty="0"/>
              <a:t>Medical scans explained</a:t>
            </a:r>
            <a:r>
              <a:rPr lang="en-US" dirty="0"/>
              <a:t>. National Institutes of Health. https://</a:t>
            </a:r>
            <a:r>
              <a:rPr lang="en-US" dirty="0" err="1"/>
              <a:t>newsinhealth.nih.gov</a:t>
            </a:r>
            <a:r>
              <a:rPr lang="en-US" dirty="0"/>
              <a:t>/2019/11/medical-scans-explained </a:t>
            </a:r>
          </a:p>
        </p:txBody>
      </p:sp>
    </p:spTree>
    <p:extLst>
      <p:ext uri="{BB962C8B-B14F-4D97-AF65-F5344CB8AC3E}">
        <p14:creationId xmlns:p14="http://schemas.microsoft.com/office/powerpoint/2010/main" val="234639635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1215</Words>
  <Application>Microsoft Macintosh PowerPoint</Application>
  <PresentationFormat>Widescreen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Grandview Display</vt:lpstr>
      <vt:lpstr>Wingdings</vt:lpstr>
      <vt:lpstr>DashVTI</vt:lpstr>
      <vt:lpstr>Technology in Medicine</vt:lpstr>
      <vt:lpstr>Early Medical Technology</vt:lpstr>
      <vt:lpstr>Radiology and Scans</vt:lpstr>
      <vt:lpstr>Wearable Devices</vt:lpstr>
      <vt:lpstr>Electronic Health Records (EHRs)</vt:lpstr>
      <vt:lpstr>Blockchain and Cloud Technology</vt:lpstr>
      <vt:lpstr>Robots</vt:lpstr>
      <vt:lpstr>Telemedicine</vt:lpstr>
      <vt:lpstr>Remote Monitoring</vt:lpstr>
      <vt:lpstr>Benefits of Medical Technology</vt:lpstr>
      <vt:lpstr>Benefits of Medical Technology</vt:lpstr>
      <vt:lpstr>Access to Medical Technology</vt:lpstr>
      <vt:lpstr>Access to Medical Technology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M Norton</dc:creator>
  <cp:lastModifiedBy>Christian M Norton</cp:lastModifiedBy>
  <cp:revision>2</cp:revision>
  <dcterms:created xsi:type="dcterms:W3CDTF">2026-04-14T01:46:43Z</dcterms:created>
  <dcterms:modified xsi:type="dcterms:W3CDTF">2026-04-14T03:27:24Z</dcterms:modified>
</cp:coreProperties>
</file>